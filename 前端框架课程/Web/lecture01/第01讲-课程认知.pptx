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370012" y="577453"/>
            <a:ext cx="7315201" cy="1251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5103812" y="1828800"/>
            <a:ext cx="3581401" cy="3314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294578" y="464311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1645920"/>
            <a:ext cx="54864" cy="182880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" name="Text 1"/>
          <p:cNvSpPr txBox="1"/>
          <p:nvPr/>
        </p:nvSpPr>
        <p:spPr>
          <a:xfrm>
            <a:off x="365759" y="1892300"/>
            <a:ext cx="8229601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第1讲 课程认知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365759" y="3041649"/>
            <a:ext cx="73152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Web前端框架技术 | 2025年春季学期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 txBox="1"/>
          <p:nvPr/>
        </p:nvSpPr>
        <p:spPr>
          <a:xfrm>
            <a:off x="914400" y="1564640"/>
            <a:ext cx="7315200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4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课程概览</a:t>
            </a:r>
          </a:p>
        </p:txBody>
      </p:sp>
      <p:sp>
        <p:nvSpPr>
          <p:cNvPr id="25" name="Text 1"/>
          <p:cNvSpPr txBox="1"/>
          <p:nvPr/>
        </p:nvSpPr>
        <p:spPr>
          <a:xfrm>
            <a:off x="914400" y="2877820"/>
            <a:ext cx="731520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前端发展 · 技能栈 · 学习路径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 txBox="1"/>
          <p:nvPr/>
        </p:nvSpPr>
        <p:spPr>
          <a:xfrm>
            <a:off x="365759" y="361950"/>
            <a:ext cx="841248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Web的诞生 (1989-1995)</a:t>
            </a:r>
          </a:p>
        </p:txBody>
      </p:sp>
      <p:sp>
        <p:nvSpPr>
          <p:cNvPr id="28" name="Text 1"/>
          <p:cNvSpPr txBox="1"/>
          <p:nvPr/>
        </p:nvSpPr>
        <p:spPr>
          <a:xfrm>
            <a:off x="594360" y="1188720"/>
            <a:ext cx="7955279" cy="2098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1989年 Tim Berners-Lee 在CERN提出WWW构想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1991年 第一个网站 http://info.cern.ch 上线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1993年 CERN宣布Web技术免费开放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核心技术三剑客：HTML + HTTP + URL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目的：方便科学家之间分享研究文献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 txBox="1"/>
          <p:nvPr/>
        </p:nvSpPr>
        <p:spPr>
          <a:xfrm>
            <a:off x="365759" y="387349"/>
            <a:ext cx="8412482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Web vs Internet</a:t>
            </a:r>
          </a:p>
        </p:txBody>
      </p:sp>
      <p:sp>
        <p:nvSpPr>
          <p:cNvPr id="31" name="Text 1"/>
          <p:cNvSpPr txBox="1"/>
          <p:nvPr/>
        </p:nvSpPr>
        <p:spPr>
          <a:xfrm>
            <a:off x="365758" y="1094738"/>
            <a:ext cx="393192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E9456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Internet（互联网）</a:t>
            </a:r>
          </a:p>
        </p:txBody>
      </p:sp>
      <p:sp>
        <p:nvSpPr>
          <p:cNvPr id="32" name="Text 2"/>
          <p:cNvSpPr txBox="1"/>
          <p:nvPr/>
        </p:nvSpPr>
        <p:spPr>
          <a:xfrm>
            <a:off x="594359" y="1463039"/>
            <a:ext cx="3657603" cy="1234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全球计算机网络基础设施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发明于1969年（ARPANET）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像公路系统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包含Email、FTP、Web等多种服务</a:t>
            </a:r>
          </a:p>
        </p:txBody>
      </p:sp>
      <p:sp>
        <p:nvSpPr>
          <p:cNvPr id="33" name="Text 3"/>
          <p:cNvSpPr txBox="1"/>
          <p:nvPr/>
        </p:nvSpPr>
        <p:spPr>
          <a:xfrm>
            <a:off x="4846320" y="1094738"/>
            <a:ext cx="393192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38EF7D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WWW（万维网）</a:t>
            </a:r>
          </a:p>
        </p:txBody>
      </p:sp>
      <p:sp>
        <p:nvSpPr>
          <p:cNvPr id="34" name="Text 4"/>
          <p:cNvSpPr txBox="1"/>
          <p:nvPr/>
        </p:nvSpPr>
        <p:spPr>
          <a:xfrm>
            <a:off x="5074918" y="1463039"/>
            <a:ext cx="3657603" cy="1234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运行在互联网上的信息服务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发明于1989-1991年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像公路上跑的汽车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仅是Internet的一种应用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 txBox="1"/>
          <p:nvPr/>
        </p:nvSpPr>
        <p:spPr>
          <a:xfrm>
            <a:off x="365759" y="361950"/>
            <a:ext cx="841248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Web 1.0：静态门户时代 (1990-2004)</a:t>
            </a:r>
          </a:p>
        </p:txBody>
      </p:sp>
      <p:sp>
        <p:nvSpPr>
          <p:cNvPr id="37" name="Text 1"/>
          <p:cNvSpPr txBox="1"/>
          <p:nvPr/>
        </p:nvSpPr>
        <p:spPr>
          <a:xfrm>
            <a:off x="594360" y="1188720"/>
            <a:ext cx="7955279" cy="2098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核心特征：只读（Read-only）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用户角色：内容消费者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数据归属：网站拥有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代表产品：Yahoo!门户、新浪、搜狐、网易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技术栈：HTML 4.0、CSS 1/2、JavaScript (ES3)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 txBox="1"/>
          <p:nvPr/>
        </p:nvSpPr>
        <p:spPr>
          <a:xfrm>
            <a:off x="365759" y="361950"/>
            <a:ext cx="841248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Web 2.0：社交互动时代 (2004-至今)</a:t>
            </a:r>
          </a:p>
        </p:txBody>
      </p:sp>
      <p:sp>
        <p:nvSpPr>
          <p:cNvPr id="40" name="Text 1"/>
          <p:cNvSpPr txBox="1"/>
          <p:nvPr/>
        </p:nvSpPr>
        <p:spPr>
          <a:xfrm>
            <a:off x="594360" y="1188720"/>
            <a:ext cx="7955279" cy="2098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核心特征：读+写（Read-write）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用户角色：内容创造者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数据归属：平台拥有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代表产品：Facebook、微信、抖音、B站、淘宝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问题：平台垄断、数据孤岛、隐私侵犯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 txBox="1"/>
          <p:nvPr/>
        </p:nvSpPr>
        <p:spPr>
          <a:xfrm>
            <a:off x="365759" y="361950"/>
            <a:ext cx="841248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Web 3.0：去中心化时代（正在兴起）</a:t>
            </a:r>
          </a:p>
        </p:txBody>
      </p:sp>
      <p:sp>
        <p:nvSpPr>
          <p:cNvPr id="43" name="Text 1"/>
          <p:cNvSpPr txBox="1"/>
          <p:nvPr/>
        </p:nvSpPr>
        <p:spPr>
          <a:xfrm>
            <a:off x="594360" y="1188720"/>
            <a:ext cx="7955279" cy="2098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核心特征：读+写+拥有（Read-write-own）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用户角色：内容拥有者+治理参与者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数据归属：用户自己拥有（区块链存储）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技术基础：区块链、智能合约、代币/通证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当前挑战：用户体验差、性能瓶颈、监管不确定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 txBox="1"/>
          <p:nvPr/>
        </p:nvSpPr>
        <p:spPr>
          <a:xfrm>
            <a:off x="365759" y="361950"/>
            <a:ext cx="841248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Web三个时代对比</a:t>
            </a:r>
          </a:p>
        </p:txBody>
      </p:sp>
      <p:sp>
        <p:nvSpPr>
          <p:cNvPr id="46" name="Text 1"/>
          <p:cNvSpPr txBox="1"/>
          <p:nvPr/>
        </p:nvSpPr>
        <p:spPr>
          <a:xfrm>
            <a:off x="365758" y="1126488"/>
            <a:ext cx="256032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4A90D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Web 1.0 (1990-2004)</a:t>
            </a:r>
          </a:p>
        </p:txBody>
      </p:sp>
      <p:sp>
        <p:nvSpPr>
          <p:cNvPr id="47" name="Text 2"/>
          <p:cNvSpPr txBox="1"/>
          <p:nvPr/>
        </p:nvSpPr>
        <p:spPr>
          <a:xfrm>
            <a:off x="594359" y="1463039"/>
            <a:ext cx="2286001" cy="1323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只读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消费者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网站管数据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门户广告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HTML/CSS</a:t>
            </a:r>
          </a:p>
        </p:txBody>
      </p:sp>
      <p:sp>
        <p:nvSpPr>
          <p:cNvPr id="48" name="Text 3"/>
          <p:cNvSpPr txBox="1"/>
          <p:nvPr/>
        </p:nvSpPr>
        <p:spPr>
          <a:xfrm>
            <a:off x="3200399" y="1107438"/>
            <a:ext cx="256032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38EF7D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Web 2.0 (2004-今)</a:t>
            </a:r>
          </a:p>
        </p:txBody>
      </p:sp>
      <p:sp>
        <p:nvSpPr>
          <p:cNvPr id="49" name="Text 4"/>
          <p:cNvSpPr txBox="1"/>
          <p:nvPr/>
        </p:nvSpPr>
        <p:spPr>
          <a:xfrm>
            <a:off x="3428998" y="1463039"/>
            <a:ext cx="2286002" cy="1361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读写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创造者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平台管数据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平台经济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Ajax/移动</a:t>
            </a:r>
          </a:p>
        </p:txBody>
      </p:sp>
      <p:sp>
        <p:nvSpPr>
          <p:cNvPr id="50" name="Text 5"/>
          <p:cNvSpPr txBox="1"/>
          <p:nvPr/>
        </p:nvSpPr>
        <p:spPr>
          <a:xfrm>
            <a:off x="6035040" y="1107438"/>
            <a:ext cx="256032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4A26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Web 3.0 (兴起中)</a:t>
            </a:r>
          </a:p>
        </p:txBody>
      </p:sp>
      <p:sp>
        <p:nvSpPr>
          <p:cNvPr id="51" name="Text 6"/>
          <p:cNvSpPr txBox="1"/>
          <p:nvPr/>
        </p:nvSpPr>
        <p:spPr>
          <a:xfrm>
            <a:off x="6263640" y="1463039"/>
            <a:ext cx="2286002" cy="1361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读写+拥有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所有者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自己管数据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代币经济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区块链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 txBox="1"/>
          <p:nvPr/>
        </p:nvSpPr>
        <p:spPr>
          <a:xfrm>
            <a:off x="914400" y="1564640"/>
            <a:ext cx="7315200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4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B/S架构</a:t>
            </a:r>
          </a:p>
        </p:txBody>
      </p:sp>
      <p:sp>
        <p:nvSpPr>
          <p:cNvPr id="54" name="Text 1"/>
          <p:cNvSpPr txBox="1"/>
          <p:nvPr/>
        </p:nvSpPr>
        <p:spPr>
          <a:xfrm>
            <a:off x="914400" y="2877820"/>
            <a:ext cx="731520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 基本原理 · 发展变迁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 txBox="1"/>
          <p:nvPr/>
        </p:nvSpPr>
        <p:spPr>
          <a:xfrm>
            <a:off x="365759" y="361950"/>
            <a:ext cx="841248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传统 B/S 架构（服务端渲染）</a:t>
            </a:r>
          </a:p>
        </p:txBody>
      </p:sp>
      <p:sp>
        <p:nvSpPr>
          <p:cNvPr id="57" name="Shape 1"/>
          <p:cNvSpPr/>
          <p:nvPr/>
        </p:nvSpPr>
        <p:spPr>
          <a:xfrm>
            <a:off x="365759" y="1005838"/>
            <a:ext cx="8412482" cy="3657603"/>
          </a:xfrm>
          <a:prstGeom prst="rect">
            <a:avLst/>
          </a:prstGeom>
          <a:solidFill>
            <a:srgbClr val="263238"/>
          </a:solidFill>
          <a:ln w="12700">
            <a:solidFill>
              <a:srgbClr val="37474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8" name="Text 2"/>
          <p:cNvSpPr txBox="1"/>
          <p:nvPr/>
        </p:nvSpPr>
        <p:spPr>
          <a:xfrm>
            <a:off x="594360" y="1188719"/>
            <a:ext cx="7955279" cy="236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浏览器          Web服务器          数据库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|                |                |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|--- 请求页面 ---&gt;|                |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|                |--- 查询数据 --&gt;|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|                |&lt;-- 返回数据 ---|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|                |                |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|                |  渲染完整HTML  |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|&lt;-- 返回页面 ----|                |</a:t>
            </a:r>
          </a:p>
          <a:p>
            <a:pPr>
              <a:defRPr sz="12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特点：服务端负责数据查询和页面渲染，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浏览器只负责展示HTML，每次交互需刷新页面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 txBox="1"/>
          <p:nvPr/>
        </p:nvSpPr>
        <p:spPr>
          <a:xfrm>
            <a:off x="365759" y="361950"/>
            <a:ext cx="841248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现代 B/S 架构（前后端分离）</a:t>
            </a:r>
          </a:p>
        </p:txBody>
      </p:sp>
      <p:sp>
        <p:nvSpPr>
          <p:cNvPr id="61" name="Shape 1"/>
          <p:cNvSpPr/>
          <p:nvPr/>
        </p:nvSpPr>
        <p:spPr>
          <a:xfrm>
            <a:off x="365759" y="1005838"/>
            <a:ext cx="8412482" cy="3657603"/>
          </a:xfrm>
          <a:prstGeom prst="rect">
            <a:avLst/>
          </a:prstGeom>
          <a:solidFill>
            <a:srgbClr val="263238"/>
          </a:solidFill>
          <a:ln w="12700">
            <a:solidFill>
              <a:srgbClr val="37474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2" name="Text 2"/>
          <p:cNvSpPr txBox="1"/>
          <p:nvPr/>
        </p:nvSpPr>
        <p:spPr>
          <a:xfrm>
            <a:off x="594360" y="1188720"/>
            <a:ext cx="7955279" cy="218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浏览器（前端应用）      API服务器         数据库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|                   |               |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|--- 请求静态资源 -&gt;|               |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|&lt;- 返回JS/CSS/HTML-|               |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|--- API请求(JSON)-&gt;|               |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|&lt;- 返回JSON数据 ---|               |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|   前端渲染页面                      |</a:t>
            </a:r>
          </a:p>
          <a:p>
            <a:pPr>
              <a:defRPr sz="12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特点：前端独立部署，通过AJAX/Fetch与后端通信，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数据交互使用JSON格式，用户体验接近原生应用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 txBox="1"/>
          <p:nvPr/>
        </p:nvSpPr>
        <p:spPr>
          <a:xfrm>
            <a:off x="914400" y="1615440"/>
            <a:ext cx="73152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4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Node.js</a:t>
            </a:r>
          </a:p>
        </p:txBody>
      </p:sp>
      <p:sp>
        <p:nvSpPr>
          <p:cNvPr id="65" name="Text 1"/>
          <p:cNvSpPr txBox="1"/>
          <p:nvPr/>
        </p:nvSpPr>
        <p:spPr>
          <a:xfrm>
            <a:off x="914400" y="2877820"/>
            <a:ext cx="731520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革命性影响 · 统一语言 · 工程化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 txBox="1"/>
          <p:nvPr/>
        </p:nvSpPr>
        <p:spPr>
          <a:xfrm>
            <a:off x="457200" y="668019"/>
            <a:ext cx="914400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200">
                <a:solidFill>
                  <a:srgbClr val="E9456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"</a:t>
            </a:r>
          </a:p>
        </p:txBody>
      </p:sp>
      <p:sp>
        <p:nvSpPr>
          <p:cNvPr id="68" name="Text 1"/>
          <p:cNvSpPr txBox="1"/>
          <p:nvPr/>
        </p:nvSpPr>
        <p:spPr>
          <a:xfrm>
            <a:off x="1142998" y="1706880"/>
            <a:ext cx="6858004" cy="1615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Node.js让JavaScript突破了浏览器的边界，</a:t>
            </a:r>
          </a:p>
          <a:p>
            <a:pPr>
              <a:defRPr sz="2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开启了全栈开发的新纪元。</a:t>
            </a:r>
          </a:p>
        </p:txBody>
      </p:sp>
      <p:sp>
        <p:nvSpPr>
          <p:cNvPr id="69" name="Text 2"/>
          <p:cNvSpPr txBox="1"/>
          <p:nvPr/>
        </p:nvSpPr>
        <p:spPr>
          <a:xfrm>
            <a:off x="1142998" y="3915410"/>
            <a:ext cx="6858004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4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— Ryan Dahl, 2009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 txBox="1"/>
          <p:nvPr/>
        </p:nvSpPr>
        <p:spPr>
          <a:xfrm>
            <a:off x="365759" y="361950"/>
            <a:ext cx="841248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Node.js 的核心贡献</a:t>
            </a:r>
          </a:p>
        </p:txBody>
      </p:sp>
      <p:sp>
        <p:nvSpPr>
          <p:cNvPr id="72" name="Text 1"/>
          <p:cNvSpPr txBox="1"/>
          <p:nvPr/>
        </p:nvSpPr>
        <p:spPr>
          <a:xfrm>
            <a:off x="594360" y="1188720"/>
            <a:ext cx="7955279" cy="1666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统一编程语言：前后端使用同一种语言 JavaScript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npm 生态：全球最大的开源包管理器，200万+包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前端工程化工具链：Webpack、Vite、Babel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全栈开发：Express/Nest.js + Vue/React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 txBox="1"/>
          <p:nvPr/>
        </p:nvSpPr>
        <p:spPr>
          <a:xfrm>
            <a:off x="365759" y="361950"/>
            <a:ext cx="841248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前端工程师技能栈</a:t>
            </a:r>
          </a:p>
        </p:txBody>
      </p:sp>
      <p:sp>
        <p:nvSpPr>
          <p:cNvPr id="75" name="Text 1"/>
          <p:cNvSpPr txBox="1"/>
          <p:nvPr/>
        </p:nvSpPr>
        <p:spPr>
          <a:xfrm>
            <a:off x="365758" y="1094738"/>
            <a:ext cx="393192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E9456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基础技能（必会）</a:t>
            </a:r>
          </a:p>
        </p:txBody>
      </p:sp>
      <p:sp>
        <p:nvSpPr>
          <p:cNvPr id="76" name="Text 2"/>
          <p:cNvSpPr txBox="1"/>
          <p:nvPr/>
        </p:nvSpPr>
        <p:spPr>
          <a:xfrm>
            <a:off x="594359" y="1463039"/>
            <a:ext cx="3657603" cy="1183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HTML5 语义化标签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CSS3 / Flexbox / Grid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JavaScript ES6+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浏览器原理（渲染/事件循环）</a:t>
            </a:r>
          </a:p>
        </p:txBody>
      </p:sp>
      <p:sp>
        <p:nvSpPr>
          <p:cNvPr id="77" name="Text 3"/>
          <p:cNvSpPr txBox="1"/>
          <p:nvPr/>
        </p:nvSpPr>
        <p:spPr>
          <a:xfrm>
            <a:off x="4846320" y="1094738"/>
            <a:ext cx="393192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38EF7D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框架与库（核心）</a:t>
            </a:r>
          </a:p>
        </p:txBody>
      </p:sp>
      <p:sp>
        <p:nvSpPr>
          <p:cNvPr id="78" name="Text 4"/>
          <p:cNvSpPr txBox="1"/>
          <p:nvPr/>
        </p:nvSpPr>
        <p:spPr>
          <a:xfrm>
            <a:off x="5074918" y="1463039"/>
            <a:ext cx="3657603" cy="1209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Vue 3 / React / Angular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Vue Router 路由管理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Pinia / Vuex 状态管理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Axios HTTP请求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 txBox="1"/>
          <p:nvPr/>
        </p:nvSpPr>
        <p:spPr>
          <a:xfrm>
            <a:off x="365759" y="361950"/>
            <a:ext cx="841248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工程化工具（必备）</a:t>
            </a:r>
          </a:p>
        </p:txBody>
      </p:sp>
      <p:sp>
        <p:nvSpPr>
          <p:cNvPr id="81" name="Text 1"/>
          <p:cNvSpPr txBox="1"/>
          <p:nvPr/>
        </p:nvSpPr>
        <p:spPr>
          <a:xfrm>
            <a:off x="365758" y="1094738"/>
            <a:ext cx="393192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E9456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构建与开发</a:t>
            </a:r>
          </a:p>
        </p:txBody>
      </p:sp>
      <p:sp>
        <p:nvSpPr>
          <p:cNvPr id="82" name="Text 2"/>
          <p:cNvSpPr txBox="1"/>
          <p:nvPr/>
        </p:nvSpPr>
        <p:spPr>
          <a:xfrm>
            <a:off x="594359" y="1463039"/>
            <a:ext cx="3657603" cy="1234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Vite / Webpack 构建工具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npm / yarn / pnpm 包管理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ESLint 代码规范检查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Prettier 代码格式化</a:t>
            </a:r>
          </a:p>
        </p:txBody>
      </p:sp>
      <p:sp>
        <p:nvSpPr>
          <p:cNvPr id="83" name="Text 3"/>
          <p:cNvSpPr txBox="1"/>
          <p:nvPr/>
        </p:nvSpPr>
        <p:spPr>
          <a:xfrm>
            <a:off x="4846320" y="1094738"/>
            <a:ext cx="393192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38EF7D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版本控制与协作</a:t>
            </a:r>
          </a:p>
        </p:txBody>
      </p:sp>
      <p:sp>
        <p:nvSpPr>
          <p:cNvPr id="84" name="Text 4"/>
          <p:cNvSpPr txBox="1"/>
          <p:nvPr/>
        </p:nvSpPr>
        <p:spPr>
          <a:xfrm>
            <a:off x="5074918" y="1463039"/>
            <a:ext cx="3657603" cy="1234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Git 版本控制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GitHub / GitLab 代码托管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CI/CD 自动化部署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Docker 容器化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 txBox="1"/>
          <p:nvPr/>
        </p:nvSpPr>
        <p:spPr>
          <a:xfrm>
            <a:off x="914400" y="1564640"/>
            <a:ext cx="7315200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4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课程知识体系</a:t>
            </a:r>
          </a:p>
        </p:txBody>
      </p:sp>
      <p:sp>
        <p:nvSpPr>
          <p:cNvPr id="87" name="Text 1"/>
          <p:cNvSpPr txBox="1"/>
          <p:nvPr/>
        </p:nvSpPr>
        <p:spPr>
          <a:xfrm>
            <a:off x="914400" y="2877820"/>
            <a:ext cx="731520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三大模块 · 16讲 · 渐进式学习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 txBox="1"/>
          <p:nvPr/>
        </p:nvSpPr>
        <p:spPr>
          <a:xfrm>
            <a:off x="365759" y="361950"/>
            <a:ext cx="841248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课程三大模块</a:t>
            </a:r>
          </a:p>
        </p:txBody>
      </p:sp>
      <p:sp>
        <p:nvSpPr>
          <p:cNvPr id="90" name="Text 1"/>
          <p:cNvSpPr txBox="1"/>
          <p:nvPr/>
        </p:nvSpPr>
        <p:spPr>
          <a:xfrm>
            <a:off x="365758" y="980438"/>
            <a:ext cx="2560324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4A90D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模块一：JS基础</a:t>
            </a:r>
          </a:p>
          <a:p>
            <a:pPr>
              <a:defRPr b="1" sz="1400">
                <a:solidFill>
                  <a:srgbClr val="4A90D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(第02-06讲)</a:t>
            </a:r>
          </a:p>
        </p:txBody>
      </p:sp>
      <p:sp>
        <p:nvSpPr>
          <p:cNvPr id="91" name="Text 2"/>
          <p:cNvSpPr txBox="1"/>
          <p:nvPr/>
        </p:nvSpPr>
        <p:spPr>
          <a:xfrm>
            <a:off x="594359" y="1463039"/>
            <a:ext cx="2286001" cy="1361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ES6+语法特性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面向对象编程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事件驱动模型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数据验证与存储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掌握现代JS编程</a:t>
            </a:r>
          </a:p>
        </p:txBody>
      </p:sp>
      <p:sp>
        <p:nvSpPr>
          <p:cNvPr id="92" name="Text 3"/>
          <p:cNvSpPr txBox="1"/>
          <p:nvPr/>
        </p:nvSpPr>
        <p:spPr>
          <a:xfrm>
            <a:off x="3200399" y="980438"/>
            <a:ext cx="2560323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38EF7D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模块二：经典框架</a:t>
            </a:r>
          </a:p>
          <a:p>
            <a:pPr>
              <a:defRPr b="1" sz="1400">
                <a:solidFill>
                  <a:srgbClr val="38EF7D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(第07-09讲)</a:t>
            </a:r>
          </a:p>
        </p:txBody>
      </p:sp>
      <p:sp>
        <p:nvSpPr>
          <p:cNvPr id="93" name="Text 4"/>
          <p:cNvSpPr txBox="1"/>
          <p:nvPr/>
        </p:nvSpPr>
        <p:spPr>
          <a:xfrm>
            <a:off x="3428998" y="1463039"/>
            <a:ext cx="2286002" cy="1361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jQuery DOM操作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Bootstrap响应式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组件化UI设计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快速搭建原型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理解框架思想</a:t>
            </a:r>
          </a:p>
        </p:txBody>
      </p:sp>
      <p:sp>
        <p:nvSpPr>
          <p:cNvPr id="94" name="Text 5"/>
          <p:cNvSpPr txBox="1"/>
          <p:nvPr/>
        </p:nvSpPr>
        <p:spPr>
          <a:xfrm>
            <a:off x="6035040" y="980438"/>
            <a:ext cx="256032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F4A26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模块三：Vue核心</a:t>
            </a:r>
          </a:p>
          <a:p>
            <a:pPr>
              <a:defRPr b="1" sz="1400">
                <a:solidFill>
                  <a:srgbClr val="F4A26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(第10-15讲)</a:t>
            </a:r>
          </a:p>
        </p:txBody>
      </p:sp>
      <p:sp>
        <p:nvSpPr>
          <p:cNvPr id="95" name="Text 6"/>
          <p:cNvSpPr txBox="1"/>
          <p:nvPr/>
        </p:nvSpPr>
        <p:spPr>
          <a:xfrm>
            <a:off x="6263640" y="1463039"/>
            <a:ext cx="2286002" cy="1323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Vue 3 Composition API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响应式原理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组件通信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路由与状态管理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1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开发完整SPA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 txBox="1"/>
          <p:nvPr/>
        </p:nvSpPr>
        <p:spPr>
          <a:xfrm>
            <a:off x="365759" y="361950"/>
            <a:ext cx="841248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知识依赖关系</a:t>
            </a:r>
          </a:p>
        </p:txBody>
      </p:sp>
      <p:sp>
        <p:nvSpPr>
          <p:cNvPr id="98" name="Shape 1"/>
          <p:cNvSpPr/>
          <p:nvPr/>
        </p:nvSpPr>
        <p:spPr>
          <a:xfrm>
            <a:off x="365759" y="1005838"/>
            <a:ext cx="8412482" cy="3657603"/>
          </a:xfrm>
          <a:prstGeom prst="rect">
            <a:avLst/>
          </a:prstGeom>
          <a:solidFill>
            <a:srgbClr val="263238"/>
          </a:solidFill>
          <a:ln w="12700">
            <a:solidFill>
              <a:srgbClr val="37474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9" name="Text 2"/>
          <p:cNvSpPr txBox="1"/>
          <p:nvPr/>
        </p:nvSpPr>
        <p:spPr>
          <a:xfrm>
            <a:off x="594360" y="1188719"/>
            <a:ext cx="7955279" cy="2556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第01讲 ──→ 第02讲 ──→ 第03讲 ──→ 第04讲 ──→ 第05讲 ──→ 第06讲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课程认知    JS入门      JS的OOP    Event应用   数据组织    数据传递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                与验证      与共享</a:t>
            </a:r>
          </a:p>
          <a:p>
            <a:pPr>
              <a:defRPr sz="12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 第07讲 ──→ 第08讲 ──→ 第09讲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 jQuery   Bootstrap  Bootstrap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          框架       应用</a:t>
            </a:r>
          </a:p>
          <a:p>
            <a:pPr>
              <a:defRPr sz="12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              第10讲 ──→ ... ──→ 第15讲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              Vue基础         状态管理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                  ↓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              第16讲 期末复习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 txBox="1"/>
          <p:nvPr/>
        </p:nvSpPr>
        <p:spPr>
          <a:xfrm>
            <a:off x="914400" y="1564640"/>
            <a:ext cx="7315200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4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学习路径建议</a:t>
            </a:r>
          </a:p>
        </p:txBody>
      </p:sp>
      <p:sp>
        <p:nvSpPr>
          <p:cNvPr id="102" name="Text 1"/>
          <p:cNvSpPr txBox="1"/>
          <p:nvPr/>
        </p:nvSpPr>
        <p:spPr>
          <a:xfrm>
            <a:off x="914400" y="2877820"/>
            <a:ext cx="731520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根据基础选择适合的学习方式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 txBox="1"/>
          <p:nvPr/>
        </p:nvSpPr>
        <p:spPr>
          <a:xfrm>
            <a:off x="365759" y="361950"/>
            <a:ext cx="841248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路径A：基础薄弱型 (HTML/CSS刚入门)</a:t>
            </a:r>
          </a:p>
        </p:txBody>
      </p:sp>
      <p:sp>
        <p:nvSpPr>
          <p:cNvPr id="105" name="Text 1"/>
          <p:cNvSpPr txBox="1"/>
          <p:nvPr/>
        </p:nvSpPr>
        <p:spPr>
          <a:xfrm>
            <a:off x="594360" y="1188720"/>
            <a:ext cx="7955279" cy="2098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课前预习：自学MDN JS基础教程（变量、函数、循环）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课堂学习：重点听讲第02-04讲，做好详细笔记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课后巩固：完成作业 + 5-10道JS基础练习题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时间投入：每周约10-12小时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推荐平台：freeCodeCamp中文、MDN Web Docs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 txBox="1"/>
          <p:nvPr/>
        </p:nvSpPr>
        <p:spPr>
          <a:xfrm>
            <a:off x="365759" y="361950"/>
            <a:ext cx="841248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路径B：有一定基础 (做过简单网页)</a:t>
            </a:r>
          </a:p>
        </p:txBody>
      </p:sp>
      <p:sp>
        <p:nvSpPr>
          <p:cNvPr id="108" name="Text 1"/>
          <p:cNvSpPr txBox="1"/>
          <p:nvPr/>
        </p:nvSpPr>
        <p:spPr>
          <a:xfrm>
            <a:off x="594360" y="1188720"/>
            <a:ext cx="7955279" cy="2098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课前预习：快速浏览讲义，标记不熟悉的内容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课堂学习：重点关注ES6新特性、面向对象、异步编程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课后巩固：完成作业，尝试改造和扩展示例代码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时间投入：每周约8-10小时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拓展学习：提前了解Vue 3官方文档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 txBox="1"/>
          <p:nvPr/>
        </p:nvSpPr>
        <p:spPr>
          <a:xfrm>
            <a:off x="365759" y="361950"/>
            <a:ext cx="841248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路径C：基础较好 (有项目经验)</a:t>
            </a:r>
          </a:p>
        </p:txBody>
      </p:sp>
      <p:sp>
        <p:nvSpPr>
          <p:cNvPr id="111" name="Text 1"/>
          <p:cNvSpPr txBox="1"/>
          <p:nvPr/>
        </p:nvSpPr>
        <p:spPr>
          <a:xfrm>
            <a:off x="594360" y="1188720"/>
            <a:ext cx="7955279" cy="2098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课前预习：直接阅读代码示例，带着问题听课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课堂学习：重点听设计思想和最佳实践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课后巩固：挑战作业扩展要求，尝试不同实现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深度研究：阅读Vue 3源码，理解响应式原理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时间投入：每周约6-8小时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 txBox="1"/>
          <p:nvPr/>
        </p:nvSpPr>
        <p:spPr>
          <a:xfrm>
            <a:off x="914400" y="1564640"/>
            <a:ext cx="7315200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4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考核要求</a:t>
            </a:r>
          </a:p>
        </p:txBody>
      </p:sp>
      <p:sp>
        <p:nvSpPr>
          <p:cNvPr id="114" name="Text 1"/>
          <p:cNvSpPr txBox="1"/>
          <p:nvPr/>
        </p:nvSpPr>
        <p:spPr>
          <a:xfrm>
            <a:off x="914400" y="2877820"/>
            <a:ext cx="731520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成绩构成与评分标准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0"/>
          <p:cNvSpPr txBox="1"/>
          <p:nvPr/>
        </p:nvSpPr>
        <p:spPr>
          <a:xfrm>
            <a:off x="914400" y="1144268"/>
            <a:ext cx="7315200" cy="146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600">
                <a:solidFill>
                  <a:srgbClr val="E9456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30%</a:t>
            </a:r>
          </a:p>
        </p:txBody>
      </p:sp>
      <p:sp>
        <p:nvSpPr>
          <p:cNvPr id="117" name="Text 1"/>
          <p:cNvSpPr txBox="1"/>
          <p:nvPr/>
        </p:nvSpPr>
        <p:spPr>
          <a:xfrm>
            <a:off x="914400" y="3192779"/>
            <a:ext cx="7315200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平时成绩</a:t>
            </a:r>
          </a:p>
        </p:txBody>
      </p:sp>
      <p:sp>
        <p:nvSpPr>
          <p:cNvPr id="118" name="Text 2"/>
          <p:cNvSpPr txBox="1"/>
          <p:nvPr/>
        </p:nvSpPr>
        <p:spPr>
          <a:xfrm>
            <a:off x="914400" y="4470399"/>
            <a:ext cx="73152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课后作业 20% + 平时表现 10%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 txBox="1"/>
          <p:nvPr/>
        </p:nvSpPr>
        <p:spPr>
          <a:xfrm>
            <a:off x="914400" y="1144268"/>
            <a:ext cx="7315200" cy="146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600">
                <a:solidFill>
                  <a:srgbClr val="E9456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10%</a:t>
            </a:r>
          </a:p>
        </p:txBody>
      </p:sp>
      <p:sp>
        <p:nvSpPr>
          <p:cNvPr id="121" name="Text 1"/>
          <p:cNvSpPr txBox="1"/>
          <p:nvPr/>
        </p:nvSpPr>
        <p:spPr>
          <a:xfrm>
            <a:off x="914400" y="3192779"/>
            <a:ext cx="7315200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出勤</a:t>
            </a:r>
          </a:p>
        </p:txBody>
      </p:sp>
      <p:sp>
        <p:nvSpPr>
          <p:cNvPr id="122" name="Text 2"/>
          <p:cNvSpPr txBox="1"/>
          <p:nvPr/>
        </p:nvSpPr>
        <p:spPr>
          <a:xfrm>
            <a:off x="914400" y="4470399"/>
            <a:ext cx="73152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缺勤扣2分/次 · 迟到早退扣1分/次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 txBox="1"/>
          <p:nvPr/>
        </p:nvSpPr>
        <p:spPr>
          <a:xfrm>
            <a:off x="914400" y="1144268"/>
            <a:ext cx="7315200" cy="146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600">
                <a:solidFill>
                  <a:srgbClr val="E9456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60%</a:t>
            </a:r>
          </a:p>
        </p:txBody>
      </p:sp>
      <p:sp>
        <p:nvSpPr>
          <p:cNvPr id="125" name="Text 1"/>
          <p:cNvSpPr txBox="1"/>
          <p:nvPr/>
        </p:nvSpPr>
        <p:spPr>
          <a:xfrm>
            <a:off x="914400" y="3192779"/>
            <a:ext cx="7315200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期末考试</a:t>
            </a:r>
          </a:p>
        </p:txBody>
      </p:sp>
      <p:sp>
        <p:nvSpPr>
          <p:cNvPr id="126" name="Text 2"/>
          <p:cNvSpPr txBox="1"/>
          <p:nvPr/>
        </p:nvSpPr>
        <p:spPr>
          <a:xfrm>
            <a:off x="914400" y="4470399"/>
            <a:ext cx="73152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机考形式 · 编程题为主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0"/>
          <p:cNvSpPr txBox="1"/>
          <p:nvPr/>
        </p:nvSpPr>
        <p:spPr>
          <a:xfrm>
            <a:off x="914400" y="1564640"/>
            <a:ext cx="7315200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4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基础回顾</a:t>
            </a:r>
          </a:p>
        </p:txBody>
      </p:sp>
      <p:sp>
        <p:nvSpPr>
          <p:cNvPr id="129" name="Text 1"/>
          <p:cNvSpPr txBox="1"/>
          <p:nvPr/>
        </p:nvSpPr>
        <p:spPr>
          <a:xfrm>
            <a:off x="914400" y="2896870"/>
            <a:ext cx="73152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HTML5 · CSS3 · Flexbox · Grid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 txBox="1"/>
          <p:nvPr/>
        </p:nvSpPr>
        <p:spPr>
          <a:xfrm>
            <a:off x="365759" y="361950"/>
            <a:ext cx="841248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HTML5 语义化标签示例</a:t>
            </a:r>
          </a:p>
        </p:txBody>
      </p:sp>
      <p:sp>
        <p:nvSpPr>
          <p:cNvPr id="132" name="Shape 1"/>
          <p:cNvSpPr/>
          <p:nvPr/>
        </p:nvSpPr>
        <p:spPr>
          <a:xfrm>
            <a:off x="365759" y="1005838"/>
            <a:ext cx="8412482" cy="3657603"/>
          </a:xfrm>
          <a:prstGeom prst="rect">
            <a:avLst/>
          </a:prstGeom>
          <a:solidFill>
            <a:srgbClr val="263238"/>
          </a:solidFill>
          <a:ln w="12700">
            <a:solidFill>
              <a:srgbClr val="37474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3" name="Text 2"/>
          <p:cNvSpPr txBox="1"/>
          <p:nvPr/>
        </p:nvSpPr>
        <p:spPr>
          <a:xfrm>
            <a:off x="510853" y="1004570"/>
            <a:ext cx="3208013" cy="3660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&lt;!DOCTYPE html&gt;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&lt;html lang="zh-CN"&gt;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&lt;head&gt;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&lt;meta charset="UTF-8"&gt;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&lt;title&gt;语义化页面&lt;/title&gt;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&lt;/head&gt;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&lt;body&gt;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&lt;header&gt;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&lt;nav&gt;导航链接&lt;/nav&gt;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&lt;/header&gt;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&lt;main&gt;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&lt;article&gt;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&lt;section&gt;内容区块&lt;/section&gt;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&lt;/article&gt;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&lt;aside&gt;侧边栏&lt;/aside&gt;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&lt;/main&gt;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&lt;footer&gt;版权信息&lt;/footer&gt;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&lt;/body&gt;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&lt;/html&gt;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 txBox="1"/>
          <p:nvPr/>
        </p:nvSpPr>
        <p:spPr>
          <a:xfrm>
            <a:off x="365759" y="361950"/>
            <a:ext cx="841248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语义化标签的优势</a:t>
            </a:r>
          </a:p>
        </p:txBody>
      </p:sp>
      <p:sp>
        <p:nvSpPr>
          <p:cNvPr id="136" name="Text 1"/>
          <p:cNvSpPr txBox="1"/>
          <p:nvPr/>
        </p:nvSpPr>
        <p:spPr>
          <a:xfrm>
            <a:off x="594360" y="1188720"/>
            <a:ext cx="7955279" cy="1666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提升代码可读性和可维护性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有利于 SEO 搜索引擎优化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便于屏幕阅读器解析，提升无障碍访问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常用标签：header、nav、main、article、section、aside、footer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 txBox="1"/>
          <p:nvPr/>
        </p:nvSpPr>
        <p:spPr>
          <a:xfrm>
            <a:off x="365759" y="361950"/>
            <a:ext cx="841248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Flexbox 核心属性</a:t>
            </a:r>
          </a:p>
        </p:txBody>
      </p:sp>
      <p:sp>
        <p:nvSpPr>
          <p:cNvPr id="139" name="Shape 1"/>
          <p:cNvSpPr/>
          <p:nvPr/>
        </p:nvSpPr>
        <p:spPr>
          <a:xfrm>
            <a:off x="365759" y="1005838"/>
            <a:ext cx="8412482" cy="3657603"/>
          </a:xfrm>
          <a:prstGeom prst="rect">
            <a:avLst/>
          </a:prstGeom>
          <a:solidFill>
            <a:srgbClr val="263238"/>
          </a:solidFill>
          <a:ln w="12700">
            <a:solidFill>
              <a:srgbClr val="37474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0" name="Text 2"/>
          <p:cNvSpPr txBox="1"/>
          <p:nvPr/>
        </p:nvSpPr>
        <p:spPr>
          <a:xfrm>
            <a:off x="594360" y="1188719"/>
            <a:ext cx="7955279" cy="3075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/* 容器属性 */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.container {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display: flex;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flex-direction: row;        /* 主轴方向 */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justify-content: center;    /* 主轴对齐 */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align-items: center;        /* 交叉轴对齐 */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flex-wrap: wrap;            /* 是否换行 */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gap: 20px;                  /* 项目间距 */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  <a:p>
            <a:pPr>
              <a:defRPr sz="12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/* 项目属性 */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.item {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flex: 1 1 200px;  /* grow shrink basis */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align-self: flex-start;  /* 单独对齐 */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 txBox="1"/>
          <p:nvPr/>
        </p:nvSpPr>
        <p:spPr>
          <a:xfrm>
            <a:off x="365759" y="361950"/>
            <a:ext cx="841248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Grid 布局示例</a:t>
            </a:r>
          </a:p>
        </p:txBody>
      </p:sp>
      <p:sp>
        <p:nvSpPr>
          <p:cNvPr id="143" name="Shape 1"/>
          <p:cNvSpPr/>
          <p:nvPr/>
        </p:nvSpPr>
        <p:spPr>
          <a:xfrm>
            <a:off x="365759" y="1005838"/>
            <a:ext cx="8412482" cy="3657603"/>
          </a:xfrm>
          <a:prstGeom prst="rect">
            <a:avLst/>
          </a:prstGeom>
          <a:solidFill>
            <a:srgbClr val="263238"/>
          </a:solidFill>
          <a:ln w="12700">
            <a:solidFill>
              <a:srgbClr val="37474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4" name="Text 2"/>
          <p:cNvSpPr txBox="1"/>
          <p:nvPr/>
        </p:nvSpPr>
        <p:spPr>
          <a:xfrm>
            <a:off x="594360" y="1188719"/>
            <a:ext cx="7955279" cy="3177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.grid-container {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display: grid;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grid-template-columns: 200px 1fr 200px;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grid-template-rows: auto 200px;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gap: 20px;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  <a:p>
            <a:pPr>
              <a:defRPr sz="12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.header {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grid-column: 1 / -1;  /* 跨越所有列 */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  <a:p>
            <a:pPr>
              <a:defRPr sz="12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.sidebar { grid-column: 1; }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.main { grid-column: 2; }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.aside { grid-column: 3; }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.footer {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grid-column: 1 / -1;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 txBox="1"/>
          <p:nvPr/>
        </p:nvSpPr>
        <p:spPr>
          <a:xfrm>
            <a:off x="365759" y="361950"/>
            <a:ext cx="841248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响应式设计：媒体查询</a:t>
            </a:r>
          </a:p>
        </p:txBody>
      </p:sp>
      <p:sp>
        <p:nvSpPr>
          <p:cNvPr id="147" name="Shape 1"/>
          <p:cNvSpPr/>
          <p:nvPr/>
        </p:nvSpPr>
        <p:spPr>
          <a:xfrm>
            <a:off x="365759" y="1005838"/>
            <a:ext cx="8412482" cy="3657603"/>
          </a:xfrm>
          <a:prstGeom prst="rect">
            <a:avLst/>
          </a:prstGeom>
          <a:solidFill>
            <a:srgbClr val="263238"/>
          </a:solidFill>
          <a:ln w="12700">
            <a:solidFill>
              <a:srgbClr val="37474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8" name="Text 2"/>
          <p:cNvSpPr txBox="1"/>
          <p:nvPr/>
        </p:nvSpPr>
        <p:spPr>
          <a:xfrm>
            <a:off x="594360" y="1188719"/>
            <a:ext cx="7955279" cy="289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/* 移动优先：基础样式 */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.box {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width: 100%;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padding: 15px;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  <a:p>
            <a:pPr>
              <a:defRPr sz="12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/* 平板设备（≥768px） */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@media screen and (min-width: 768px) {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.box { width: 48%; }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  <a:p>
            <a:pPr>
              <a:defRPr sz="12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/* 桌面设备（≥1024px） */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@media screen and (min-width: 1024px) {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.box { width: 30%; }</a:t>
            </a:r>
          </a:p>
          <a:p>
            <a:pPr>
              <a:defRPr sz="1200">
                <a:solidFill>
                  <a:srgbClr val="AEE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 txBox="1"/>
          <p:nvPr/>
        </p:nvSpPr>
        <p:spPr>
          <a:xfrm>
            <a:off x="914400" y="1564640"/>
            <a:ext cx="7315200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4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课程总结</a:t>
            </a:r>
          </a:p>
        </p:txBody>
      </p:sp>
      <p:sp>
        <p:nvSpPr>
          <p:cNvPr id="151" name="Text 1"/>
          <p:cNvSpPr txBox="1"/>
          <p:nvPr/>
        </p:nvSpPr>
        <p:spPr>
          <a:xfrm>
            <a:off x="914400" y="2877820"/>
            <a:ext cx="731520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第1讲核心要点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 txBox="1"/>
          <p:nvPr/>
        </p:nvSpPr>
        <p:spPr>
          <a:xfrm>
            <a:off x="365759" y="361950"/>
            <a:ext cx="841248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本讲核心要点</a:t>
            </a:r>
          </a:p>
        </p:txBody>
      </p:sp>
      <p:sp>
        <p:nvSpPr>
          <p:cNvPr id="154" name="Text 1"/>
          <p:cNvSpPr txBox="1"/>
          <p:nvPr/>
        </p:nvSpPr>
        <p:spPr>
          <a:xfrm>
            <a:off x="594360" y="1188720"/>
            <a:ext cx="7955279" cy="1666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Web起源：Tim Berners-Lee 1989年在CERN发明WWW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Web三个时代：1.0（只读）→ 2.0（读写）→ 3.0（读写+拥有）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现代 B/S 架构采用前后端分离，前端独立部署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Node.js 统一了前后端语言，推动了工程化发展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 txBox="1"/>
          <p:nvPr/>
        </p:nvSpPr>
        <p:spPr>
          <a:xfrm>
            <a:off x="365759" y="361950"/>
            <a:ext cx="841248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课后思考与作业</a:t>
            </a:r>
          </a:p>
        </p:txBody>
      </p:sp>
      <p:sp>
        <p:nvSpPr>
          <p:cNvPr id="157" name="Text 1"/>
          <p:cNvSpPr txBox="1"/>
          <p:nvPr/>
        </p:nvSpPr>
        <p:spPr>
          <a:xfrm>
            <a:off x="594360" y="1188720"/>
            <a:ext cx="7955279" cy="2098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架构思考：前后端分离相比传统 SSR 的优劣势？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技术演进：为什么现代前端需要工程化？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学习规划：根据技能栈评估自己，制定学习计划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作业：使用 HTML5 + Flexbox/Grid 完成个人简历页面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600">
                <a:solidFill>
                  <a:srgbClr val="EAEAE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要求：响应式设计，适配移动端、平板、桌面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 txBox="1"/>
          <p:nvPr/>
        </p:nvSpPr>
        <p:spPr>
          <a:xfrm>
            <a:off x="914400" y="1906270"/>
            <a:ext cx="7315200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4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谢谢</a:t>
            </a:r>
          </a:p>
        </p:txBody>
      </p:sp>
      <p:sp>
        <p:nvSpPr>
          <p:cNvPr id="160" name="Text 1"/>
          <p:cNvSpPr txBox="1"/>
          <p:nvPr/>
        </p:nvSpPr>
        <p:spPr>
          <a:xfrm>
            <a:off x="914400" y="3792219"/>
            <a:ext cx="731520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Web前端框架技术 | 第1讲 课程认知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